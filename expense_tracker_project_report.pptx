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sldIdLst>
    <p:sldId id="258" r:id="rId2"/>
    <p:sldId id="259" r:id="rId3"/>
    <p:sldId id="260" r:id="rId4"/>
    <p:sldId id="261" r:id="rId5"/>
    <p:sldId id="262" r:id="rId6"/>
    <p:sldId id="266" r:id="rId7"/>
    <p:sldId id="267"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7" d="100"/>
          <a:sy n="67" d="100"/>
        </p:scale>
        <p:origin x="85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17CD121-D2D7-42FF-9F3B-2000BDCD38DD}"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282989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717CD121-D2D7-42FF-9F3B-2000BDCD38DD}"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3809858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17CD121-D2D7-42FF-9F3B-2000BDCD38DD}"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3077463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17CD121-D2D7-42FF-9F3B-2000BDCD38DD}"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3879535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17CD121-D2D7-42FF-9F3B-2000BDCD38DD}" type="datetimeFigureOut">
              <a:rPr lang="en-IN" smtClean="0"/>
              <a:t>14-11-2025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2092347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717CD121-D2D7-42FF-9F3B-2000BDCD38DD}" type="datetimeFigureOut">
              <a:rPr lang="en-IN" smtClean="0"/>
              <a:t>14-11-2025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2761656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17CD121-D2D7-42FF-9F3B-2000BDCD38DD}" type="datetimeFigureOut">
              <a:rPr lang="en-IN" smtClean="0"/>
              <a:t>14-11-2025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187782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717CD121-D2D7-42FF-9F3B-2000BDCD38DD}" type="datetimeFigureOut">
              <a:rPr lang="en-IN" smtClean="0"/>
              <a:t>14-11-2025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1193815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17CD121-D2D7-42FF-9F3B-2000BDCD38DD}"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347363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17CD121-D2D7-42FF-9F3B-2000BDCD38DD}" type="datetimeFigureOut">
              <a:rPr lang="en-IN" smtClean="0"/>
              <a:t>14-11-2025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1993324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717CD121-D2D7-42FF-9F3B-2000BDCD38DD}"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2660426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717CD121-D2D7-42FF-9F3B-2000BDCD38DD}"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396B08-FEBA-4EE1-B9EC-C72540D32156}"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655003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17CD121-D2D7-42FF-9F3B-2000BDCD38DD}"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40179408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17CD121-D2D7-42FF-9F3B-2000BDCD38DD}" type="datetimeFigureOut">
              <a:rPr lang="en-IN" smtClean="0"/>
              <a:t>14-11-2025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4122094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17CD121-D2D7-42FF-9F3B-2000BDCD38DD}" type="datetimeFigureOut">
              <a:rPr lang="en-IN" smtClean="0"/>
              <a:t>14-11-2025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10036450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17CD121-D2D7-42FF-9F3B-2000BDCD38DD}"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9169193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17CD121-D2D7-42FF-9F3B-2000BDCD38DD}"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396B08-FEBA-4EE1-B9EC-C72540D32156}" type="slidenum">
              <a:rPr lang="en-IN" smtClean="0"/>
              <a:t>‹#›</a:t>
            </a:fld>
            <a:endParaRPr lang="en-IN"/>
          </a:p>
        </p:txBody>
      </p:sp>
    </p:spTree>
    <p:extLst>
      <p:ext uri="{BB962C8B-B14F-4D97-AF65-F5344CB8AC3E}">
        <p14:creationId xmlns:p14="http://schemas.microsoft.com/office/powerpoint/2010/main" val="7541361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Text Placeholder 2"/>
          <p:cNvSpPr>
            <a:spLocks noGrp="1"/>
          </p:cNvSpPr>
          <p:nvPr>
            <p:ph type="body"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804F264-3570-4E9C-AB1E-45C0767FD049}" type="datetimeFigureOut">
              <a:rPr lang="en-IN" smtClean="0"/>
              <a:t>14-11-2025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AE6452-399E-4862-81B9-F2FA4256F1F2}" type="slidenum">
              <a:rPr lang="en-IN" smtClean="0"/>
              <a:t>‹#›</a:t>
            </a:fld>
            <a:endParaRPr lang="en-IN"/>
          </a:p>
        </p:txBody>
      </p:sp>
    </p:spTree>
    <p:extLst>
      <p:ext uri="{BB962C8B-B14F-4D97-AF65-F5344CB8AC3E}">
        <p14:creationId xmlns:p14="http://schemas.microsoft.com/office/powerpoint/2010/main" val="3602831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17CD121-D2D7-42FF-9F3B-2000BDCD38DD}" type="datetimeFigureOut">
              <a:rPr lang="en-IN" smtClean="0"/>
              <a:t>14-11-2025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C396B08-FEBA-4EE1-B9EC-C72540D32156}" type="slidenum">
              <a:rPr lang="en-IN" smtClean="0"/>
              <a:t>‹#›</a:t>
            </a:fld>
            <a:endParaRPr lang="en-IN"/>
          </a:p>
        </p:txBody>
      </p:sp>
    </p:spTree>
    <p:extLst>
      <p:ext uri="{BB962C8B-B14F-4D97-AF65-F5344CB8AC3E}">
        <p14:creationId xmlns:p14="http://schemas.microsoft.com/office/powerpoint/2010/main" val="1498295832"/>
      </p:ext>
    </p:extLst>
  </p:cSld>
  <p:clrMap bg1="dk1" tx1="lt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IN" b="1" i="0" u="none" strike="noStrike" kern="1800" baseline="0" dirty="0" smtClean="0">
                <a:latin typeface="Times New Roman" panose="02020603050405020304" pitchFamily="18" charset="0"/>
              </a:rPr>
              <a:t>1. Project Title</a:t>
            </a:r>
          </a:p>
        </p:txBody>
      </p:sp>
      <p:sp>
        <p:nvSpPr>
          <p:cNvPr id="3" name="Text Placeholder 2"/>
          <p:cNvSpPr>
            <a:spLocks noGrp="1"/>
          </p:cNvSpPr>
          <p:nvPr>
            <p:ph type="body" idx="1"/>
          </p:nvPr>
        </p:nvSpPr>
        <p:spPr/>
        <p:txBody>
          <a:bodyPr>
            <a:normAutofit/>
          </a:bodyPr>
          <a:lstStyle/>
          <a:p>
            <a:pPr marL="0" marR="0" lvl="0" indent="0" rtl="0">
              <a:buNone/>
            </a:pPr>
            <a:r>
              <a:rPr lang="en-IN" sz="4000" b="1" i="0" u="none" strike="noStrike" baseline="0" dirty="0" smtClean="0">
                <a:latin typeface="Times New Roman" panose="02020603050405020304" pitchFamily="18" charset="0"/>
              </a:rPr>
              <a:t>	</a:t>
            </a:r>
          </a:p>
          <a:p>
            <a:pPr marL="0" marR="0" lvl="0" indent="0" rtl="0">
              <a:buNone/>
            </a:pPr>
            <a:r>
              <a:rPr lang="en-IN" sz="4000" b="1" dirty="0">
                <a:latin typeface="Times New Roman" panose="02020603050405020304" pitchFamily="18" charset="0"/>
              </a:rPr>
              <a:t>	</a:t>
            </a:r>
            <a:r>
              <a:rPr lang="en-IN" sz="4000" b="1" i="0" u="none" strike="noStrike" baseline="0" dirty="0" smtClean="0">
                <a:latin typeface="Times New Roman" panose="02020603050405020304" pitchFamily="18" charset="0"/>
              </a:rPr>
              <a:t>Expense Tracker (Secure Multi-User)</a:t>
            </a:r>
          </a:p>
        </p:txBody>
      </p:sp>
    </p:spTree>
    <p:extLst>
      <p:ext uri="{BB962C8B-B14F-4D97-AF65-F5344CB8AC3E}">
        <p14:creationId xmlns:p14="http://schemas.microsoft.com/office/powerpoint/2010/main" val="845150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kern="1800" baseline="0" dirty="0" smtClean="0">
                <a:latin typeface="Times New Roman" panose="02020603050405020304" pitchFamily="18" charset="0"/>
              </a:rPr>
              <a:t>2. Objective</a:t>
            </a:r>
          </a:p>
        </p:txBody>
      </p:sp>
      <p:sp>
        <p:nvSpPr>
          <p:cNvPr id="3" name="Text Placeholder 2"/>
          <p:cNvSpPr>
            <a:spLocks noGrp="1"/>
          </p:cNvSpPr>
          <p:nvPr>
            <p:ph type="body" idx="1"/>
          </p:nvPr>
        </p:nvSpPr>
        <p:spPr/>
        <p:txBody>
          <a:bodyPr/>
          <a:lstStyle/>
          <a:p>
            <a:pPr marR="0" lvl="0" rtl="0"/>
            <a:r>
              <a:rPr lang="en-US" sz="2500" b="1" i="0" u="none" strike="noStrike" baseline="0" dirty="0" smtClean="0">
                <a:latin typeface="Times New Roman" panose="02020603050405020304" pitchFamily="18" charset="0"/>
              </a:rPr>
              <a:t>Let people securely record and track their money spent. Multiple users can have accounts, an admin can manage users, and the app shows how much money is left after expenses</a:t>
            </a:r>
            <a:r>
              <a:rPr lang="en-US" b="1" i="0" u="none" strike="noStrike" baseline="0" dirty="0" smtClean="0">
                <a:latin typeface="Times New Roman" panose="02020603050405020304" pitchFamily="18" charset="0"/>
              </a:rPr>
              <a:t>.</a:t>
            </a:r>
          </a:p>
        </p:txBody>
      </p:sp>
    </p:spTree>
    <p:extLst>
      <p:ext uri="{BB962C8B-B14F-4D97-AF65-F5344CB8AC3E}">
        <p14:creationId xmlns:p14="http://schemas.microsoft.com/office/powerpoint/2010/main" val="2801082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kern="1800" baseline="0" dirty="0" smtClean="0">
                <a:latin typeface="Times New Roman" panose="02020603050405020304" pitchFamily="18" charset="0"/>
              </a:rPr>
              <a:t>3. Overview — What the project does</a:t>
            </a:r>
          </a:p>
        </p:txBody>
      </p:sp>
      <p:sp>
        <p:nvSpPr>
          <p:cNvPr id="3" name="Text Placeholder 2"/>
          <p:cNvSpPr>
            <a:spLocks noGrp="1"/>
          </p:cNvSpPr>
          <p:nvPr>
            <p:ph type="body" idx="1"/>
          </p:nvPr>
        </p:nvSpPr>
        <p:spPr/>
        <p:txBody>
          <a:bodyPr>
            <a:normAutofit lnSpcReduction="10000"/>
          </a:bodyPr>
          <a:lstStyle/>
          <a:p>
            <a:pPr marR="0" lvl="0" rtl="0"/>
            <a:r>
              <a:rPr lang="en-US" sz="2200" b="1" i="0" u="none" strike="noStrike" baseline="0" dirty="0" smtClean="0">
                <a:latin typeface="Times New Roman" panose="02020603050405020304" pitchFamily="18" charset="0"/>
              </a:rPr>
              <a:t>When the app starts, it makes sure a database and the required tables exist.</a:t>
            </a:r>
          </a:p>
          <a:p>
            <a:pPr marR="0" lvl="0" rtl="0"/>
            <a:r>
              <a:rPr lang="en-US" sz="2200" b="1" i="0" u="none" strike="noStrike" baseline="0" dirty="0" smtClean="0">
                <a:latin typeface="Times New Roman" panose="02020603050405020304" pitchFamily="18" charset="0"/>
              </a:rPr>
              <a:t>A login window appears. Users either log in or register a new account.</a:t>
            </a:r>
          </a:p>
          <a:p>
            <a:pPr marR="0" lvl="0" rtl="0"/>
            <a:r>
              <a:rPr lang="en-US" sz="2200" b="1" i="0" u="none" strike="noStrike" baseline="0" dirty="0" smtClean="0">
                <a:latin typeface="Times New Roman" panose="02020603050405020304" pitchFamily="18" charset="0"/>
              </a:rPr>
              <a:t>After login, users see a dashboard where they can add, update, or delete expenses.</a:t>
            </a:r>
          </a:p>
          <a:p>
            <a:pPr marR="0" lvl="0" rtl="0"/>
            <a:r>
              <a:rPr lang="en-US" sz="2200" b="1" i="0" u="none" strike="noStrike" baseline="0" dirty="0" smtClean="0">
                <a:latin typeface="Times New Roman" panose="02020603050405020304" pitchFamily="18" charset="0"/>
              </a:rPr>
              <a:t>If the user is an administrator, they can select other users and edit their salary.</a:t>
            </a:r>
          </a:p>
          <a:p>
            <a:pPr marR="0" lvl="0" rtl="0"/>
            <a:r>
              <a:rPr lang="en-US" sz="2200" b="1" i="0" u="none" strike="noStrike" baseline="0" dirty="0" smtClean="0">
                <a:latin typeface="Times New Roman" panose="02020603050405020304" pitchFamily="18" charset="0"/>
              </a:rPr>
              <a:t>The app shows totals: income, total expenses, and remaining balance.</a:t>
            </a:r>
          </a:p>
          <a:p>
            <a:pPr marR="0" lvl="0" rtl="0"/>
            <a:r>
              <a:rPr lang="en-US" sz="2200" b="1" i="0" u="none" strike="noStrike" baseline="0" dirty="0" smtClean="0">
                <a:latin typeface="Times New Roman" panose="02020603050405020304" pitchFamily="18" charset="0"/>
              </a:rPr>
              <a:t>It can display charts: day-wise, last 12 months, and category distribution.</a:t>
            </a:r>
          </a:p>
          <a:p>
            <a:pPr marR="0" lvl="0" rtl="0"/>
            <a:r>
              <a:rPr lang="en-US" sz="2200" b="1" i="0" u="none" strike="noStrike" baseline="0" dirty="0" smtClean="0">
                <a:latin typeface="Times New Roman" panose="02020603050405020304" pitchFamily="18" charset="0"/>
              </a:rPr>
              <a:t>Everything saved is stored safely in a database</a:t>
            </a:r>
            <a:r>
              <a:rPr lang="en-US" b="1" i="0" u="none" strike="noStrike" baseline="0" dirty="0" smtClean="0">
                <a:latin typeface="Times New Roman" panose="02020603050405020304" pitchFamily="18" charset="0"/>
              </a:rPr>
              <a:t>.</a:t>
            </a:r>
          </a:p>
        </p:txBody>
      </p:sp>
    </p:spTree>
    <p:extLst>
      <p:ext uri="{BB962C8B-B14F-4D97-AF65-F5344CB8AC3E}">
        <p14:creationId xmlns:p14="http://schemas.microsoft.com/office/powerpoint/2010/main" val="3785839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IN" b="1" i="0" u="none" strike="noStrike" kern="1800" baseline="0" smtClean="0">
                <a:latin typeface="Times New Roman" panose="02020603050405020304" pitchFamily="18" charset="0"/>
              </a:rPr>
              <a:t>4. Key Features</a:t>
            </a:r>
          </a:p>
        </p:txBody>
      </p:sp>
      <p:sp>
        <p:nvSpPr>
          <p:cNvPr id="3" name="Text Placeholder 2"/>
          <p:cNvSpPr>
            <a:spLocks noGrp="1"/>
          </p:cNvSpPr>
          <p:nvPr>
            <p:ph type="body" idx="1"/>
          </p:nvPr>
        </p:nvSpPr>
        <p:spPr/>
        <p:txBody>
          <a:bodyPr/>
          <a:lstStyle/>
          <a:p>
            <a:pPr marR="0" lvl="0" rtl="0"/>
            <a:r>
              <a:rPr lang="en-US" sz="2200" b="1" i="0" u="none" strike="noStrike" baseline="0" dirty="0" smtClean="0">
                <a:latin typeface="Times New Roman" panose="02020603050405020304" pitchFamily="18" charset="0"/>
              </a:rPr>
              <a:t>Multi-user support with secure password storage.</a:t>
            </a:r>
          </a:p>
          <a:p>
            <a:pPr marR="0" lvl="0" rtl="0"/>
            <a:r>
              <a:rPr lang="en-US" sz="2200" b="1" i="0" u="none" strike="noStrike" baseline="0" dirty="0" smtClean="0">
                <a:latin typeface="Times New Roman" panose="02020603050405020304" pitchFamily="18" charset="0"/>
              </a:rPr>
              <a:t>Admin account with extra controls (select user, edit salary).</a:t>
            </a:r>
          </a:p>
          <a:p>
            <a:pPr marR="0" lvl="0" rtl="0"/>
            <a:r>
              <a:rPr lang="en-US" sz="2200" b="1" i="0" u="none" strike="noStrike" baseline="0" dirty="0" smtClean="0">
                <a:latin typeface="Times New Roman" panose="02020603050405020304" pitchFamily="18" charset="0"/>
              </a:rPr>
              <a:t>Add / update / delete expense items (amount, category, date, description).</a:t>
            </a:r>
          </a:p>
          <a:p>
            <a:pPr marR="0" lvl="0" rtl="0"/>
            <a:r>
              <a:rPr lang="en-US" sz="2200" b="1" i="0" u="none" strike="noStrike" baseline="0" dirty="0" smtClean="0">
                <a:latin typeface="Times New Roman" panose="02020603050405020304" pitchFamily="18" charset="0"/>
              </a:rPr>
              <a:t>Summary showing Income, Expenses, and Remaining balance.</a:t>
            </a:r>
          </a:p>
          <a:p>
            <a:pPr marR="0" lvl="0" rtl="0"/>
            <a:r>
              <a:rPr lang="en-US" sz="2200" b="1" i="0" u="none" strike="noStrike" baseline="0" dirty="0" smtClean="0">
                <a:latin typeface="Times New Roman" panose="02020603050405020304" pitchFamily="18" charset="0"/>
              </a:rPr>
              <a:t>Charts for visual insights: day-wise, monthly (last 12), category pie chart.</a:t>
            </a:r>
          </a:p>
          <a:p>
            <a:pPr marR="0" lvl="0" rtl="0"/>
            <a:r>
              <a:rPr lang="en-US" sz="2200" b="1" i="0" u="none" strike="noStrike" baseline="0" dirty="0" smtClean="0">
                <a:latin typeface="Times New Roman" panose="02020603050405020304" pitchFamily="18" charset="0"/>
              </a:rPr>
              <a:t>Auto database and table creation for easy setup.</a:t>
            </a:r>
          </a:p>
          <a:p>
            <a:pPr marR="0" lvl="0" rtl="0"/>
            <a:r>
              <a:rPr lang="en-US" sz="2200" b="1" i="0" u="none" strike="noStrike" baseline="0" dirty="0" smtClean="0">
                <a:latin typeface="Times New Roman" panose="02020603050405020304" pitchFamily="18" charset="0"/>
              </a:rPr>
              <a:t>Simple desktop GUI (</a:t>
            </a:r>
            <a:r>
              <a:rPr lang="en-US" sz="2200" b="1" i="0" u="none" strike="noStrike" baseline="0" dirty="0" err="1" smtClean="0">
                <a:latin typeface="Times New Roman" panose="02020603050405020304" pitchFamily="18" charset="0"/>
              </a:rPr>
              <a:t>Tkinter</a:t>
            </a:r>
            <a:r>
              <a:rPr lang="en-US" sz="2200" b="1" i="0" u="none" strike="noStrike" baseline="0" dirty="0" smtClean="0">
                <a:latin typeface="Times New Roman" panose="02020603050405020304" pitchFamily="18" charset="0"/>
              </a:rPr>
              <a:t>) — no web server needed</a:t>
            </a:r>
            <a:r>
              <a:rPr lang="en-US" b="1" i="0" u="none" strike="noStrike" baseline="0" dirty="0" smtClean="0">
                <a:latin typeface="Times New Roman" panose="02020603050405020304" pitchFamily="18" charset="0"/>
              </a:rPr>
              <a:t>.</a:t>
            </a:r>
          </a:p>
        </p:txBody>
      </p:sp>
    </p:spTree>
    <p:extLst>
      <p:ext uri="{BB962C8B-B14F-4D97-AF65-F5344CB8AC3E}">
        <p14:creationId xmlns:p14="http://schemas.microsoft.com/office/powerpoint/2010/main" val="967212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fr-FR" b="1" i="0" u="none" strike="noStrike" kern="1800" baseline="0" dirty="0" smtClean="0">
                <a:latin typeface="Times New Roman" panose="02020603050405020304" pitchFamily="18" charset="0"/>
              </a:rPr>
              <a:t>5. Modules / Parts </a:t>
            </a:r>
            <a:r>
              <a:rPr lang="fr-FR" b="1" i="0" u="none" strike="noStrike" kern="1800" baseline="0" dirty="0" err="1" smtClean="0">
                <a:latin typeface="Times New Roman" panose="02020603050405020304" pitchFamily="18" charset="0"/>
              </a:rPr>
              <a:t>Explanation</a:t>
            </a:r>
            <a:r>
              <a:rPr lang="fr-FR" b="1" i="0" u="none" strike="noStrike" kern="1800" baseline="0" dirty="0" smtClean="0">
                <a:latin typeface="Times New Roman" panose="02020603050405020304" pitchFamily="18" charset="0"/>
              </a:rPr>
              <a:t> </a:t>
            </a:r>
            <a:r>
              <a:rPr lang="fr-FR" b="1" kern="1800" dirty="0">
                <a:latin typeface="Times New Roman" panose="02020603050405020304" pitchFamily="18" charset="0"/>
              </a:rPr>
              <a:t/>
            </a:r>
            <a:br>
              <a:rPr lang="fr-FR" b="1" kern="1800" dirty="0">
                <a:latin typeface="Times New Roman" panose="02020603050405020304" pitchFamily="18" charset="0"/>
              </a:rPr>
            </a:br>
            <a:endParaRPr lang="fr-FR" b="1" i="0" u="none" strike="noStrike" kern="1800" baseline="0" dirty="0" smtClean="0">
              <a:latin typeface="Times New Roman" panose="02020603050405020304" pitchFamily="18" charset="0"/>
            </a:endParaRPr>
          </a:p>
        </p:txBody>
      </p:sp>
      <p:sp>
        <p:nvSpPr>
          <p:cNvPr id="6" name="Rectangle 3"/>
          <p:cNvSpPr>
            <a:spLocks noGrp="1" noChangeArrowheads="1"/>
          </p:cNvSpPr>
          <p:nvPr>
            <p:ph type="body" idx="1"/>
          </p:nvPr>
        </p:nvSpPr>
        <p:spPr bwMode="auto">
          <a:xfrm>
            <a:off x="515733" y="1943838"/>
            <a:ext cx="1048139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u="sng" dirty="0" smtClean="0">
                <a:latin typeface="Times New Roman" panose="02020603050405020304" pitchFamily="18" charset="0"/>
              </a:rPr>
              <a:t>Configuration</a:t>
            </a:r>
            <a:r>
              <a:rPr lang="en-US" altLang="en-US" b="1" u="sng" dirty="0">
                <a:latin typeface="Times New Roman" panose="02020603050405020304" pitchFamily="18" charset="0"/>
              </a:rPr>
              <a:t/>
            </a:r>
            <a:br>
              <a:rPr lang="en-US" altLang="en-US" b="1" u="sng" dirty="0">
                <a:latin typeface="Times New Roman" panose="02020603050405020304" pitchFamily="18" charset="0"/>
              </a:rPr>
            </a:br>
            <a:r>
              <a:rPr lang="en-US" altLang="en-US" sz="2400" b="1" dirty="0">
                <a:latin typeface="Times New Roman" panose="02020603050405020304" pitchFamily="18" charset="0"/>
              </a:rPr>
              <a:t>Stores the database connection details (where the data is kept). </a:t>
            </a:r>
            <a:endParaRPr lang="en-US" altLang="en-US" sz="2400" b="1" dirty="0" smtClean="0">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2400" b="1" dirty="0" smtClean="0">
                <a:latin typeface="Times New Roman" panose="02020603050405020304" pitchFamily="18" charset="0"/>
              </a:rPr>
              <a:t>By </a:t>
            </a:r>
            <a:r>
              <a:rPr lang="en-US" altLang="en-US" sz="2400" b="1" dirty="0">
                <a:latin typeface="Times New Roman" panose="02020603050405020304" pitchFamily="18" charset="0"/>
              </a:rPr>
              <a:t>default it uses local settings but can be changed with environment variables</a:t>
            </a:r>
            <a:r>
              <a:rPr lang="en-US" altLang="en-US" sz="2400" b="1" dirty="0" smtClean="0">
                <a:latin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400" b="1" dirty="0" smtClean="0">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u="sng" dirty="0" smtClean="0">
                <a:latin typeface="Times New Roman" panose="02020603050405020304" pitchFamily="18" charset="0"/>
              </a:rPr>
              <a:t>Database Initialization </a:t>
            </a:r>
            <a:r>
              <a:rPr lang="en-US" altLang="en-US" b="1" dirty="0" smtClean="0">
                <a:latin typeface="Times New Roman" panose="02020603050405020304" pitchFamily="18" charset="0"/>
              </a:rPr>
              <a:t/>
            </a:r>
            <a:br>
              <a:rPr lang="en-US" altLang="en-US" b="1" dirty="0" smtClean="0">
                <a:latin typeface="Times New Roman" panose="02020603050405020304" pitchFamily="18" charset="0"/>
              </a:rPr>
            </a:br>
            <a:r>
              <a:rPr lang="en-US" altLang="en-US" sz="2400" b="1" dirty="0" smtClean="0">
                <a:latin typeface="Times New Roman" panose="02020603050405020304" pitchFamily="18" charset="0"/>
              </a:rPr>
              <a:t>When the app runs, this part checks if the database is present.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b="1" dirty="0" smtClean="0">
                <a:latin typeface="Times New Roman" panose="02020603050405020304" pitchFamily="18" charset="0"/>
              </a:rPr>
              <a:t>If not, it creates the database and the two main tables: users and expenses.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b="1" dirty="0" smtClean="0">
                <a:latin typeface="Times New Roman" panose="02020603050405020304" pitchFamily="18" charset="0"/>
              </a:rPr>
              <a:t>It </a:t>
            </a:r>
            <a:r>
              <a:rPr lang="en-US" altLang="en-US" sz="2400" b="1" dirty="0">
                <a:latin typeface="Times New Roman" panose="02020603050405020304" pitchFamily="18" charset="0"/>
              </a:rPr>
              <a:t>also creates a default admin account if no users </a:t>
            </a:r>
            <a:r>
              <a:rPr lang="en-US" altLang="en-US" sz="2400" b="1" dirty="0" smtClean="0">
                <a:latin typeface="Times New Roman" panose="02020603050405020304" pitchFamily="18" charset="0"/>
              </a:rPr>
              <a:t>exist</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400" b="1" dirty="0" smtClean="0">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2400" b="1" dirty="0">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b="1" dirty="0">
              <a:latin typeface="Times New Roman" panose="02020603050405020304" pitchFamily="18" charset="0"/>
            </a:endParaRPr>
          </a:p>
        </p:txBody>
      </p:sp>
    </p:spTree>
    <p:extLst>
      <p:ext uri="{BB962C8B-B14F-4D97-AF65-F5344CB8AC3E}">
        <p14:creationId xmlns:p14="http://schemas.microsoft.com/office/powerpoint/2010/main" val="1917739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body" idx="1"/>
          </p:nvPr>
        </p:nvSpPr>
        <p:spPr bwMode="auto">
          <a:xfrm>
            <a:off x="147484" y="193119"/>
            <a:ext cx="10308104"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FontTx/>
              <a:buChar char="•"/>
            </a:pPr>
            <a:r>
              <a:rPr lang="en-US" altLang="en-US" sz="2400" b="1" u="sng" dirty="0">
                <a:latin typeface="Times New Roman" panose="02020603050405020304" pitchFamily="18" charset="0"/>
              </a:rPr>
              <a:t>Database Helper Class (DB)</a:t>
            </a:r>
            <a:r>
              <a:rPr lang="en-US" altLang="en-US" sz="2400" b="1" dirty="0">
                <a:latin typeface="Times New Roman" panose="02020603050405020304" pitchFamily="18" charset="0"/>
              </a:rPr>
              <a:t/>
            </a:r>
            <a:br>
              <a:rPr lang="en-US" altLang="en-US" sz="2400" b="1" dirty="0">
                <a:latin typeface="Times New Roman" panose="02020603050405020304" pitchFamily="18" charset="0"/>
              </a:rPr>
            </a:br>
            <a:r>
              <a:rPr lang="en-US" altLang="en-US" sz="2400" b="1" dirty="0">
                <a:latin typeface="Times New Roman" panose="02020603050405020304" pitchFamily="18" charset="0"/>
              </a:rPr>
              <a:t>A collection of tasks that deal with storing and retrieving data:</a:t>
            </a:r>
          </a:p>
          <a:p>
            <a:pPr marL="457200" indent="-457200" eaLnBrk="0" fontAlgn="base" hangingPunct="0">
              <a:lnSpc>
                <a:spcPct val="100000"/>
              </a:lnSpc>
              <a:spcBef>
                <a:spcPct val="0"/>
              </a:spcBef>
              <a:spcAft>
                <a:spcPct val="0"/>
              </a:spcAft>
              <a:buFont typeface="+mj-lt"/>
              <a:buAutoNum type="arabicPeriod"/>
            </a:pPr>
            <a:r>
              <a:rPr lang="en-US" altLang="en-US" sz="2400" b="1" dirty="0">
                <a:latin typeface="Times New Roman" panose="02020603050405020304" pitchFamily="18" charset="0"/>
              </a:rPr>
              <a:t>Creating a new user record.</a:t>
            </a:r>
          </a:p>
          <a:p>
            <a:pPr marL="457200" indent="-457200" eaLnBrk="0" fontAlgn="base" hangingPunct="0">
              <a:lnSpc>
                <a:spcPct val="100000"/>
              </a:lnSpc>
              <a:spcBef>
                <a:spcPct val="0"/>
              </a:spcBef>
              <a:spcAft>
                <a:spcPct val="0"/>
              </a:spcAft>
              <a:buFont typeface="+mj-lt"/>
              <a:buAutoNum type="arabicPeriod"/>
            </a:pPr>
            <a:r>
              <a:rPr lang="en-US" altLang="en-US" sz="2400" b="1" dirty="0">
                <a:latin typeface="Times New Roman" panose="02020603050405020304" pitchFamily="18" charset="0"/>
              </a:rPr>
              <a:t>Checking a user’s login details.</a:t>
            </a:r>
          </a:p>
          <a:p>
            <a:pPr marL="457200" indent="-457200" eaLnBrk="0" fontAlgn="base" hangingPunct="0">
              <a:lnSpc>
                <a:spcPct val="100000"/>
              </a:lnSpc>
              <a:spcBef>
                <a:spcPct val="0"/>
              </a:spcBef>
              <a:spcAft>
                <a:spcPct val="0"/>
              </a:spcAft>
              <a:buFont typeface="+mj-lt"/>
              <a:buAutoNum type="arabicPeriod"/>
            </a:pPr>
            <a:r>
              <a:rPr lang="en-US" altLang="en-US" sz="2400" b="1" dirty="0">
                <a:latin typeface="Times New Roman" panose="02020603050405020304" pitchFamily="18" charset="0"/>
              </a:rPr>
              <a:t>Listing users for the admin to select.</a:t>
            </a:r>
          </a:p>
          <a:p>
            <a:pPr marL="457200" indent="-457200" eaLnBrk="0" fontAlgn="base" hangingPunct="0">
              <a:lnSpc>
                <a:spcPct val="100000"/>
              </a:lnSpc>
              <a:spcBef>
                <a:spcPct val="0"/>
              </a:spcBef>
              <a:spcAft>
                <a:spcPct val="0"/>
              </a:spcAft>
              <a:buFont typeface="+mj-lt"/>
              <a:buAutoNum type="arabicPeriod"/>
            </a:pPr>
            <a:r>
              <a:rPr lang="en-US" altLang="en-US" sz="2400" b="1" dirty="0">
                <a:latin typeface="Times New Roman" panose="02020603050405020304" pitchFamily="18" charset="0"/>
              </a:rPr>
              <a:t>Adding, updating, deleting expenses.</a:t>
            </a:r>
          </a:p>
          <a:p>
            <a:pPr marL="457200" indent="-457200" eaLnBrk="0" fontAlgn="base" hangingPunct="0">
              <a:lnSpc>
                <a:spcPct val="100000"/>
              </a:lnSpc>
              <a:spcBef>
                <a:spcPct val="0"/>
              </a:spcBef>
              <a:spcAft>
                <a:spcPct val="0"/>
              </a:spcAft>
              <a:buFont typeface="+mj-lt"/>
              <a:buAutoNum type="arabicPeriod"/>
            </a:pPr>
            <a:r>
              <a:rPr lang="en-US" altLang="en-US" sz="2400" b="1" dirty="0">
                <a:latin typeface="Times New Roman" panose="02020603050405020304" pitchFamily="18" charset="0"/>
              </a:rPr>
              <a:t>Summaries for charts and totals</a:t>
            </a:r>
            <a:r>
              <a:rPr lang="en-US" altLang="en-US" sz="2400" b="1" dirty="0" smtClean="0">
                <a:latin typeface="Times New Roman" panose="02020603050405020304" pitchFamily="18" charset="0"/>
              </a:rPr>
              <a:t>.</a:t>
            </a:r>
          </a:p>
          <a:p>
            <a:pPr marL="457200" indent="-457200" eaLnBrk="0" fontAlgn="base" hangingPunct="0">
              <a:lnSpc>
                <a:spcPct val="100000"/>
              </a:lnSpc>
              <a:spcBef>
                <a:spcPct val="0"/>
              </a:spcBef>
              <a:spcAft>
                <a:spcPct val="0"/>
              </a:spcAft>
              <a:buFont typeface="+mj-lt"/>
              <a:buAutoNum type="arabicPeriod"/>
            </a:pPr>
            <a:endParaRPr lang="en-US" altLang="en-US" sz="2400" b="1" dirty="0">
              <a:latin typeface="Times New Roman" panose="02020603050405020304" pitchFamily="18" charset="0"/>
            </a:endParaRPr>
          </a:p>
          <a:p>
            <a:pPr marL="0" indent="0" eaLnBrk="0" fontAlgn="base" hangingPunct="0">
              <a:lnSpc>
                <a:spcPct val="100000"/>
              </a:lnSpc>
              <a:spcBef>
                <a:spcPct val="0"/>
              </a:spcBef>
              <a:spcAft>
                <a:spcPct val="0"/>
              </a:spcAft>
              <a:buFontTx/>
              <a:buChar char="•"/>
            </a:pPr>
            <a:r>
              <a:rPr lang="en-US" altLang="en-US" sz="2400" b="1" u="sng" dirty="0" smtClean="0">
                <a:latin typeface="Times New Roman" panose="02020603050405020304" pitchFamily="18" charset="0"/>
              </a:rPr>
              <a:t>Login Window</a:t>
            </a:r>
            <a:r>
              <a:rPr lang="en-US" altLang="en-US" sz="2400" b="1" dirty="0" smtClean="0">
                <a:latin typeface="Times New Roman" panose="02020603050405020304" pitchFamily="18" charset="0"/>
              </a:rPr>
              <a:t/>
            </a:r>
            <a:br>
              <a:rPr lang="en-US" altLang="en-US" sz="2400" b="1" dirty="0" smtClean="0">
                <a:latin typeface="Times New Roman" panose="02020603050405020304" pitchFamily="18" charset="0"/>
              </a:rPr>
            </a:br>
            <a:r>
              <a:rPr lang="en-US" altLang="en-US" sz="2400" b="1" dirty="0" smtClean="0">
                <a:latin typeface="Times New Roman" panose="02020603050405020304" pitchFamily="18" charset="0"/>
              </a:rPr>
              <a:t>The first screen a user sees. It asks for username and password and </a:t>
            </a:r>
          </a:p>
          <a:p>
            <a:pPr marL="0" indent="0" eaLnBrk="0" fontAlgn="base" hangingPunct="0">
              <a:lnSpc>
                <a:spcPct val="100000"/>
              </a:lnSpc>
              <a:spcBef>
                <a:spcPct val="0"/>
              </a:spcBef>
              <a:spcAft>
                <a:spcPct val="0"/>
              </a:spcAft>
              <a:buNone/>
            </a:pPr>
            <a:r>
              <a:rPr lang="en-US" altLang="en-US" sz="2400" b="1" dirty="0" smtClean="0">
                <a:latin typeface="Times New Roman" panose="02020603050405020304" pitchFamily="18" charset="0"/>
              </a:rPr>
              <a:t>provides </a:t>
            </a:r>
            <a:r>
              <a:rPr lang="en-US" altLang="en-US" sz="2400" b="1" dirty="0">
                <a:latin typeface="Times New Roman" panose="02020603050405020304" pitchFamily="18" charset="0"/>
              </a:rPr>
              <a:t>a button to register if the user is new. </a:t>
            </a:r>
            <a:r>
              <a:rPr lang="en-US" altLang="en-US" sz="2400" b="1" dirty="0" smtClean="0">
                <a:latin typeface="Times New Roman" panose="02020603050405020304" pitchFamily="18" charset="0"/>
              </a:rPr>
              <a:t>Successful </a:t>
            </a:r>
            <a:r>
              <a:rPr lang="en-US" altLang="en-US" sz="2400" b="1" dirty="0">
                <a:latin typeface="Times New Roman" panose="02020603050405020304" pitchFamily="18" charset="0"/>
              </a:rPr>
              <a:t>login opens the main dashboard</a:t>
            </a:r>
            <a:r>
              <a:rPr lang="en-US" altLang="en-US" sz="2400" b="1" dirty="0" smtClean="0">
                <a:latin typeface="Times New Roman" panose="02020603050405020304" pitchFamily="18" charset="0"/>
              </a:rPr>
              <a:t>.</a:t>
            </a:r>
          </a:p>
          <a:p>
            <a:pPr marL="0" indent="0" eaLnBrk="0" fontAlgn="base" hangingPunct="0">
              <a:lnSpc>
                <a:spcPct val="100000"/>
              </a:lnSpc>
              <a:spcBef>
                <a:spcPct val="0"/>
              </a:spcBef>
              <a:spcAft>
                <a:spcPct val="0"/>
              </a:spcAft>
              <a:buNone/>
            </a:pPr>
            <a:endParaRPr lang="en-US" altLang="en-US" sz="2400" b="1" dirty="0" smtClean="0">
              <a:latin typeface="Times New Roman" panose="02020603050405020304" pitchFamily="18" charset="0"/>
            </a:endParaRPr>
          </a:p>
          <a:p>
            <a:pPr marL="0" indent="0" eaLnBrk="0" fontAlgn="base" hangingPunct="0">
              <a:lnSpc>
                <a:spcPct val="100000"/>
              </a:lnSpc>
              <a:spcBef>
                <a:spcPct val="0"/>
              </a:spcBef>
              <a:spcAft>
                <a:spcPct val="0"/>
              </a:spcAft>
              <a:buFontTx/>
              <a:buChar char="•"/>
            </a:pPr>
            <a:r>
              <a:rPr lang="en-US" altLang="en-US" sz="2400" b="1" u="sng" dirty="0" smtClean="0">
                <a:latin typeface="Times New Roman" panose="02020603050405020304" pitchFamily="18" charset="0"/>
              </a:rPr>
              <a:t>Register </a:t>
            </a:r>
            <a:r>
              <a:rPr lang="en-US" altLang="en-US" sz="2400" b="1" u="sng" dirty="0">
                <a:latin typeface="Times New Roman" panose="02020603050405020304" pitchFamily="18" charset="0"/>
              </a:rPr>
              <a:t>Dialog</a:t>
            </a:r>
            <a:r>
              <a:rPr lang="en-US" altLang="en-US" sz="2400" b="1" dirty="0">
                <a:latin typeface="Times New Roman" panose="02020603050405020304" pitchFamily="18" charset="0"/>
              </a:rPr>
              <a:t/>
            </a:r>
            <a:br>
              <a:rPr lang="en-US" altLang="en-US" sz="2400" b="1" dirty="0">
                <a:latin typeface="Times New Roman" panose="02020603050405020304" pitchFamily="18" charset="0"/>
              </a:rPr>
            </a:br>
            <a:r>
              <a:rPr lang="en-US" altLang="en-US" sz="2400" b="1" dirty="0">
                <a:latin typeface="Times New Roman" panose="02020603050405020304" pitchFamily="18" charset="0"/>
              </a:rPr>
              <a:t>A small window that asks for username, password, confirm password, and optional salary</a:t>
            </a:r>
            <a:r>
              <a:rPr lang="en-US" altLang="en-US" sz="2400" b="1" dirty="0" smtClean="0">
                <a:latin typeface="Times New Roman" panose="02020603050405020304" pitchFamily="18" charset="0"/>
              </a:rPr>
              <a:t>. </a:t>
            </a:r>
            <a:r>
              <a:rPr lang="en-US" altLang="en-US" sz="2400" b="1" dirty="0">
                <a:latin typeface="Times New Roman" panose="02020603050405020304" pitchFamily="18" charset="0"/>
              </a:rPr>
              <a:t>It checks basic rules (passwords match, salary is a number) and creates the account.</a:t>
            </a:r>
          </a:p>
        </p:txBody>
      </p:sp>
    </p:spTree>
    <p:extLst>
      <p:ext uri="{BB962C8B-B14F-4D97-AF65-F5344CB8AC3E}">
        <p14:creationId xmlns:p14="http://schemas.microsoft.com/office/powerpoint/2010/main" val="2280138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body" idx="1"/>
          </p:nvPr>
        </p:nvSpPr>
        <p:spPr bwMode="auto">
          <a:xfrm>
            <a:off x="295274" y="147752"/>
            <a:ext cx="11720513"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eaLnBrk="0" fontAlgn="base" hangingPunct="0">
              <a:lnSpc>
                <a:spcPct val="100000"/>
              </a:lnSpc>
              <a:spcBef>
                <a:spcPct val="0"/>
              </a:spcBef>
              <a:spcAft>
                <a:spcPct val="0"/>
              </a:spcAft>
              <a:buClrTx/>
              <a:buSzTx/>
              <a:buFontTx/>
              <a:buChar char="•"/>
              <a:tabLst/>
            </a:pPr>
            <a:r>
              <a:rPr lang="en-US" altLang="en-US" sz="2400" b="1" u="sng" dirty="0">
                <a:latin typeface="Times New Roman" panose="02020603050405020304" pitchFamily="18" charset="0"/>
              </a:rPr>
              <a:t>Main Application Dashboard</a:t>
            </a:r>
            <a:r>
              <a:rPr lang="en-US" altLang="en-US" sz="2400" b="1" dirty="0">
                <a:latin typeface="Times New Roman" panose="02020603050405020304" pitchFamily="18" charset="0"/>
              </a:rPr>
              <a:t/>
            </a:r>
            <a:br>
              <a:rPr lang="en-US" altLang="en-US" sz="2400" b="1" dirty="0">
                <a:latin typeface="Times New Roman" panose="02020603050405020304" pitchFamily="18" charset="0"/>
              </a:rPr>
            </a:br>
            <a:r>
              <a:rPr lang="en-US" altLang="en-US" sz="2400" b="1" dirty="0">
                <a:latin typeface="Times New Roman" panose="02020603050405020304" pitchFamily="18" charset="0"/>
              </a:rPr>
              <a:t>Where the user works:</a:t>
            </a:r>
          </a:p>
          <a:p>
            <a:pPr marL="457200" marR="0" lvl="0" indent="-457200" eaLnBrk="0" fontAlgn="base" hangingPunct="0">
              <a:lnSpc>
                <a:spcPct val="100000"/>
              </a:lnSpc>
              <a:spcBef>
                <a:spcPct val="0"/>
              </a:spcBef>
              <a:spcAft>
                <a:spcPct val="0"/>
              </a:spcAft>
              <a:buClrTx/>
              <a:buSzTx/>
              <a:buFont typeface="+mj-lt"/>
              <a:buAutoNum type="arabicPeriod"/>
              <a:tabLst/>
            </a:pPr>
            <a:r>
              <a:rPr lang="en-US" altLang="en-US" sz="2400" b="1" dirty="0">
                <a:latin typeface="Times New Roman" panose="02020603050405020304" pitchFamily="18" charset="0"/>
              </a:rPr>
              <a:t>Left panel: enter amount, category, date, and description; buttons to add/update/delete an expense.</a:t>
            </a:r>
          </a:p>
          <a:p>
            <a:pPr marL="457200" marR="0" lvl="0" indent="-457200" eaLnBrk="0" fontAlgn="base" hangingPunct="0">
              <a:lnSpc>
                <a:spcPct val="100000"/>
              </a:lnSpc>
              <a:spcBef>
                <a:spcPct val="0"/>
              </a:spcBef>
              <a:spcAft>
                <a:spcPct val="0"/>
              </a:spcAft>
              <a:buClrTx/>
              <a:buSzTx/>
              <a:buFont typeface="+mj-lt"/>
              <a:buAutoNum type="arabicPeriod"/>
              <a:tabLst/>
            </a:pPr>
            <a:r>
              <a:rPr lang="en-US" altLang="en-US" sz="2400" b="1" dirty="0">
                <a:latin typeface="Times New Roman" panose="02020603050405020304" pitchFamily="18" charset="0"/>
              </a:rPr>
              <a:t>Middle: a list of expenses for the selected user.</a:t>
            </a:r>
          </a:p>
          <a:p>
            <a:pPr marL="457200" marR="0" lvl="0" indent="-457200" eaLnBrk="0" fontAlgn="base" hangingPunct="0">
              <a:lnSpc>
                <a:spcPct val="100000"/>
              </a:lnSpc>
              <a:spcBef>
                <a:spcPct val="0"/>
              </a:spcBef>
              <a:spcAft>
                <a:spcPct val="0"/>
              </a:spcAft>
              <a:buClrTx/>
              <a:buSzTx/>
              <a:buFont typeface="+mj-lt"/>
              <a:buAutoNum type="arabicPeriod"/>
              <a:tabLst/>
            </a:pPr>
            <a:r>
              <a:rPr lang="en-US" altLang="en-US" sz="2400" b="1" dirty="0">
                <a:latin typeface="Times New Roman" panose="02020603050405020304" pitchFamily="18" charset="0"/>
              </a:rPr>
              <a:t>Right: a short summary (Income, Expenses, Remaining) and a small chart visual.</a:t>
            </a:r>
          </a:p>
          <a:p>
            <a:pPr marL="457200" marR="0" lvl="0" indent="-457200" eaLnBrk="0" fontAlgn="base" hangingPunct="0">
              <a:lnSpc>
                <a:spcPct val="100000"/>
              </a:lnSpc>
              <a:spcBef>
                <a:spcPct val="0"/>
              </a:spcBef>
              <a:spcAft>
                <a:spcPct val="0"/>
              </a:spcAft>
              <a:buClrTx/>
              <a:buSzTx/>
              <a:buFont typeface="+mj-lt"/>
              <a:buAutoNum type="arabicPeriod"/>
              <a:tabLst/>
            </a:pPr>
            <a:r>
              <a:rPr lang="en-US" altLang="en-US" sz="2400" b="1" dirty="0">
                <a:latin typeface="Times New Roman" panose="02020603050405020304" pitchFamily="18" charset="0"/>
              </a:rPr>
              <a:t>If the logged-in user is admin, there’s a user selector and “Edit Salary” option.</a:t>
            </a:r>
          </a:p>
          <a:p>
            <a:pPr marL="0" marR="0" lvl="0" indent="0" eaLnBrk="0" fontAlgn="base" hangingPunct="0">
              <a:lnSpc>
                <a:spcPct val="100000"/>
              </a:lnSpc>
              <a:spcBef>
                <a:spcPct val="0"/>
              </a:spcBef>
              <a:spcAft>
                <a:spcPct val="0"/>
              </a:spcAft>
              <a:buClrTx/>
              <a:buSzTx/>
              <a:buNone/>
              <a:tabLst/>
            </a:pPr>
            <a:endParaRPr lang="en-US" altLang="en-US" sz="2400" b="1" dirty="0">
              <a:latin typeface="Times New Roman" panose="02020603050405020304" pitchFamily="18" charset="0"/>
            </a:endParaRPr>
          </a:p>
          <a:p>
            <a:pPr marL="0" marR="0" lvl="0" indent="0" eaLnBrk="0" fontAlgn="base" hangingPunct="0">
              <a:lnSpc>
                <a:spcPct val="100000"/>
              </a:lnSpc>
              <a:spcBef>
                <a:spcPct val="0"/>
              </a:spcBef>
              <a:spcAft>
                <a:spcPct val="0"/>
              </a:spcAft>
              <a:buClrTx/>
              <a:buSzTx/>
              <a:buFontTx/>
              <a:buChar char="•"/>
              <a:tabLst/>
            </a:pPr>
            <a:r>
              <a:rPr lang="en-US" altLang="en-US" sz="2400" b="1" u="sng" dirty="0">
                <a:latin typeface="Times New Roman" panose="02020603050405020304" pitchFamily="18" charset="0"/>
              </a:rPr>
              <a:t>Charts &amp; Visuals</a:t>
            </a:r>
            <a:r>
              <a:rPr lang="en-US" altLang="en-US" sz="2400" b="1" dirty="0">
                <a:latin typeface="Times New Roman" panose="02020603050405020304" pitchFamily="18" charset="0"/>
              </a:rPr>
              <a:t/>
            </a:r>
            <a:br>
              <a:rPr lang="en-US" altLang="en-US" sz="2400" b="1" dirty="0">
                <a:latin typeface="Times New Roman" panose="02020603050405020304" pitchFamily="18" charset="0"/>
              </a:rPr>
            </a:br>
            <a:r>
              <a:rPr lang="en-US" altLang="en-US" sz="2400" b="1" dirty="0">
                <a:latin typeface="Times New Roman" panose="02020603050405020304" pitchFamily="18" charset="0"/>
              </a:rPr>
              <a:t>Three chart types are provided:</a:t>
            </a:r>
          </a:p>
          <a:p>
            <a:pPr marL="457200" marR="0" lvl="0" indent="-457200" eaLnBrk="0" fontAlgn="base" hangingPunct="0">
              <a:lnSpc>
                <a:spcPct val="100000"/>
              </a:lnSpc>
              <a:spcBef>
                <a:spcPct val="0"/>
              </a:spcBef>
              <a:spcAft>
                <a:spcPct val="0"/>
              </a:spcAft>
              <a:buClrTx/>
              <a:buSzTx/>
              <a:buFont typeface="+mj-lt"/>
              <a:buAutoNum type="arabicPeriod"/>
              <a:tabLst/>
            </a:pPr>
            <a:r>
              <a:rPr lang="en-US" altLang="en-US" sz="2400" b="1" dirty="0">
                <a:latin typeface="Times New Roman" panose="02020603050405020304" pitchFamily="18" charset="0"/>
              </a:rPr>
              <a:t>Day-wise (last 30 days) line chart.</a:t>
            </a:r>
          </a:p>
          <a:p>
            <a:pPr marL="457200" marR="0" lvl="0" indent="-457200" eaLnBrk="0" fontAlgn="base" hangingPunct="0">
              <a:lnSpc>
                <a:spcPct val="100000"/>
              </a:lnSpc>
              <a:spcBef>
                <a:spcPct val="0"/>
              </a:spcBef>
              <a:spcAft>
                <a:spcPct val="0"/>
              </a:spcAft>
              <a:buClrTx/>
              <a:buSzTx/>
              <a:buFont typeface="+mj-lt"/>
              <a:buAutoNum type="arabicPeriod"/>
              <a:tabLst/>
            </a:pPr>
            <a:r>
              <a:rPr lang="en-US" altLang="en-US" sz="2400" b="1" dirty="0">
                <a:latin typeface="Times New Roman" panose="02020603050405020304" pitchFamily="18" charset="0"/>
              </a:rPr>
              <a:t>Monthly totals for the last 12 months as a bar chart.</a:t>
            </a:r>
          </a:p>
          <a:p>
            <a:pPr marL="457200" marR="0" lvl="0" indent="-457200" eaLnBrk="0" fontAlgn="base" hangingPunct="0">
              <a:lnSpc>
                <a:spcPct val="100000"/>
              </a:lnSpc>
              <a:spcBef>
                <a:spcPct val="0"/>
              </a:spcBef>
              <a:spcAft>
                <a:spcPct val="0"/>
              </a:spcAft>
              <a:buClrTx/>
              <a:buSzTx/>
              <a:buFont typeface="+mj-lt"/>
              <a:buAutoNum type="arabicPeriod"/>
              <a:tabLst/>
            </a:pPr>
            <a:r>
              <a:rPr lang="en-US" altLang="en-US" sz="2400" b="1" dirty="0">
                <a:latin typeface="Times New Roman" panose="02020603050405020304" pitchFamily="18" charset="0"/>
              </a:rPr>
              <a:t>Category pie chart showing which categories consume most money.</a:t>
            </a:r>
            <a:br>
              <a:rPr lang="en-US" altLang="en-US" sz="2400" b="1" dirty="0">
                <a:latin typeface="Times New Roman" panose="02020603050405020304" pitchFamily="18" charset="0"/>
              </a:rPr>
            </a:br>
            <a:endParaRPr lang="en-US" altLang="en-US" sz="2400" b="1" dirty="0" smtClean="0">
              <a:latin typeface="Times New Roman" panose="02020603050405020304" pitchFamily="18" charset="0"/>
            </a:endParaRPr>
          </a:p>
          <a:p>
            <a:pPr marL="0" marR="0" lvl="0" indent="0" eaLnBrk="0" fontAlgn="base" hangingPunct="0">
              <a:lnSpc>
                <a:spcPct val="100000"/>
              </a:lnSpc>
              <a:spcBef>
                <a:spcPct val="0"/>
              </a:spcBef>
              <a:spcAft>
                <a:spcPct val="0"/>
              </a:spcAft>
              <a:buClrTx/>
              <a:buSzTx/>
              <a:buNone/>
              <a:tabLst/>
            </a:pPr>
            <a:r>
              <a:rPr lang="en-US" altLang="en-US" sz="2400" b="1" dirty="0" smtClean="0">
                <a:latin typeface="Times New Roman" panose="02020603050405020304" pitchFamily="18" charset="0"/>
              </a:rPr>
              <a:t>The </a:t>
            </a:r>
            <a:r>
              <a:rPr lang="en-US" altLang="en-US" sz="2400" b="1" dirty="0">
                <a:latin typeface="Times New Roman" panose="02020603050405020304" pitchFamily="18" charset="0"/>
              </a:rPr>
              <a:t>dashboard also shows a small pie for Remaining vs Expenses.</a:t>
            </a:r>
          </a:p>
          <a:p>
            <a:pPr marL="0" marR="0" lvl="0" indent="0" eaLnBrk="0" fontAlgn="base" hangingPunct="0">
              <a:lnSpc>
                <a:spcPct val="100000"/>
              </a:lnSpc>
              <a:spcBef>
                <a:spcPct val="0"/>
              </a:spcBef>
              <a:spcAft>
                <a:spcPct val="0"/>
              </a:spcAft>
              <a:buClrTx/>
              <a:buSzTx/>
              <a:buNone/>
              <a:tabLst/>
            </a:pPr>
            <a:endParaRPr lang="en-US" altLang="en-US" sz="2400" b="1" dirty="0">
              <a:latin typeface="Times New Roman" panose="02020603050405020304" pitchFamily="18" charset="0"/>
            </a:endParaRPr>
          </a:p>
          <a:p>
            <a:pPr marL="0" marR="0" lvl="0" indent="0" eaLnBrk="0" fontAlgn="base" hangingPunct="0">
              <a:lnSpc>
                <a:spcPct val="100000"/>
              </a:lnSpc>
              <a:spcBef>
                <a:spcPct val="0"/>
              </a:spcBef>
              <a:spcAft>
                <a:spcPct val="0"/>
              </a:spcAft>
              <a:buClrTx/>
              <a:buSzTx/>
              <a:buFontTx/>
              <a:buChar char="•"/>
              <a:tabLst/>
            </a:pPr>
            <a:r>
              <a:rPr lang="en-US" altLang="en-US" sz="2400" b="1" u="sng" dirty="0">
                <a:latin typeface="Times New Roman" panose="02020603050405020304" pitchFamily="18" charset="0"/>
              </a:rPr>
              <a:t>Main Execution</a:t>
            </a:r>
            <a:r>
              <a:rPr lang="en-US" altLang="en-US" sz="2400" b="1" dirty="0">
                <a:latin typeface="Times New Roman" panose="02020603050405020304" pitchFamily="18" charset="0"/>
              </a:rPr>
              <a:t/>
            </a:r>
            <a:br>
              <a:rPr lang="en-US" altLang="en-US" sz="2400" b="1" dirty="0">
                <a:latin typeface="Times New Roman" panose="02020603050405020304" pitchFamily="18" charset="0"/>
              </a:rPr>
            </a:br>
            <a:r>
              <a:rPr lang="en-US" altLang="en-US" sz="2400" b="1" dirty="0">
                <a:latin typeface="Times New Roman" panose="02020603050405020304" pitchFamily="18" charset="0"/>
              </a:rPr>
              <a:t>The code starts by ensuring the database exists, then brings up the login window.</a:t>
            </a:r>
          </a:p>
        </p:txBody>
      </p:sp>
    </p:spTree>
    <p:extLst>
      <p:ext uri="{BB962C8B-B14F-4D97-AF65-F5344CB8AC3E}">
        <p14:creationId xmlns:p14="http://schemas.microsoft.com/office/powerpoint/2010/main" val="422584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IN" b="1" i="0" u="none" strike="noStrike" kern="1800" baseline="0" smtClean="0">
                <a:latin typeface="Times New Roman" panose="02020603050405020304" pitchFamily="18" charset="0"/>
              </a:rPr>
              <a:t>6. Outcome / Results</a:t>
            </a:r>
          </a:p>
        </p:txBody>
      </p:sp>
      <p:sp>
        <p:nvSpPr>
          <p:cNvPr id="3" name="Text Placeholder 2"/>
          <p:cNvSpPr>
            <a:spLocks noGrp="1"/>
          </p:cNvSpPr>
          <p:nvPr>
            <p:ph type="body" idx="1"/>
          </p:nvPr>
        </p:nvSpPr>
        <p:spPr/>
        <p:txBody>
          <a:bodyPr/>
          <a:lstStyle/>
          <a:p>
            <a:pPr marR="0" lvl="0" rtl="0"/>
            <a:r>
              <a:rPr lang="en-US" b="1" i="0" u="none" strike="noStrike" baseline="0" smtClean="0">
                <a:latin typeface="Times New Roman" panose="02020603050405020304" pitchFamily="18" charset="0"/>
              </a:rPr>
              <a:t>A working desktop application where each registered person can:</a:t>
            </a:r>
          </a:p>
          <a:p>
            <a:pPr marR="0" lvl="0" rtl="0"/>
            <a:r>
              <a:rPr lang="en-IN" b="1" i="0" u="none" strike="noStrike" baseline="0" smtClean="0">
                <a:latin typeface="Times New Roman" panose="02020603050405020304" pitchFamily="18" charset="0"/>
              </a:rPr>
              <a:t>Store expense entries.</a:t>
            </a:r>
          </a:p>
          <a:p>
            <a:pPr marR="0" lvl="0" rtl="0"/>
            <a:r>
              <a:rPr lang="en-US" b="1" i="0" u="none" strike="noStrike" baseline="0" smtClean="0">
                <a:latin typeface="Times New Roman" panose="02020603050405020304" pitchFamily="18" charset="0"/>
              </a:rPr>
              <a:t>See visual summaries and charts.</a:t>
            </a:r>
          </a:p>
          <a:p>
            <a:pPr marR="0" lvl="0" rtl="0"/>
            <a:r>
              <a:rPr lang="en-US" b="1" i="0" u="none" strike="noStrike" baseline="0" smtClean="0">
                <a:latin typeface="Times New Roman" panose="02020603050405020304" pitchFamily="18" charset="0"/>
              </a:rPr>
              <a:t>Track remaining salary after expenses.</a:t>
            </a:r>
          </a:p>
          <a:p>
            <a:pPr marR="0" lvl="0" rtl="0"/>
            <a:r>
              <a:rPr lang="en-US" b="1" i="0" u="none" strike="noStrike" baseline="0" smtClean="0">
                <a:latin typeface="Times New Roman" panose="02020603050405020304" pitchFamily="18" charset="0"/>
              </a:rPr>
              <a:t>Admin users can manage other users and update salaries.</a:t>
            </a:r>
          </a:p>
          <a:p>
            <a:pPr marR="0" lvl="0" rtl="0"/>
            <a:r>
              <a:rPr lang="en-US" b="1" i="0" u="none" strike="noStrike" baseline="0" smtClean="0">
                <a:latin typeface="Times New Roman" panose="02020603050405020304" pitchFamily="18" charset="0"/>
              </a:rPr>
              <a:t>All data is stored in a central database so data is persistent and safe.</a:t>
            </a:r>
          </a:p>
        </p:txBody>
      </p:sp>
    </p:spTree>
    <p:extLst>
      <p:ext uri="{BB962C8B-B14F-4D97-AF65-F5344CB8AC3E}">
        <p14:creationId xmlns:p14="http://schemas.microsoft.com/office/powerpoint/2010/main" val="3001489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US" b="1" i="0" u="none" strike="noStrike" kern="1800" baseline="0" dirty="0" smtClean="0">
                <a:latin typeface="Times New Roman" panose="02020603050405020304" pitchFamily="18" charset="0"/>
              </a:rPr>
              <a:t>7. Real-Life Use Case</a:t>
            </a:r>
          </a:p>
        </p:txBody>
      </p:sp>
      <p:sp>
        <p:nvSpPr>
          <p:cNvPr id="3" name="Text Placeholder 2"/>
          <p:cNvSpPr>
            <a:spLocks noGrp="1"/>
          </p:cNvSpPr>
          <p:nvPr>
            <p:ph type="body" idx="1"/>
          </p:nvPr>
        </p:nvSpPr>
        <p:spPr/>
        <p:txBody>
          <a:bodyPr/>
          <a:lstStyle/>
          <a:p>
            <a:pPr marR="0" lvl="0" rtl="0"/>
            <a:r>
              <a:rPr lang="en-US" b="1" i="0" u="none" strike="noStrike" baseline="0" smtClean="0">
                <a:latin typeface="Times New Roman" panose="02020603050405020304" pitchFamily="18" charset="0"/>
              </a:rPr>
              <a:t>A family shares a laptop. Each family member has an account and records daily expenses (groceries, fuel, bills). The parent (admin) can set each member’s monthly allowance (salary) and at any time see how much allowance is left, plus which categories are consuming most of the money.</a:t>
            </a:r>
          </a:p>
        </p:txBody>
      </p:sp>
    </p:spTree>
    <p:extLst>
      <p:ext uri="{BB962C8B-B14F-4D97-AF65-F5344CB8AC3E}">
        <p14:creationId xmlns:p14="http://schemas.microsoft.com/office/powerpoint/2010/main" val="2048620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R="0" rtl="0"/>
            <a:r>
              <a:rPr lang="en-IN" b="1" i="0" u="none" strike="noStrike" kern="1800" baseline="0" smtClean="0">
                <a:latin typeface="Times New Roman" panose="02020603050405020304" pitchFamily="18" charset="0"/>
              </a:rPr>
              <a:t>8. Conclusion</a:t>
            </a:r>
          </a:p>
        </p:txBody>
      </p:sp>
      <p:sp>
        <p:nvSpPr>
          <p:cNvPr id="3" name="Text Placeholder 2"/>
          <p:cNvSpPr>
            <a:spLocks noGrp="1"/>
          </p:cNvSpPr>
          <p:nvPr>
            <p:ph type="body" idx="1"/>
          </p:nvPr>
        </p:nvSpPr>
        <p:spPr/>
        <p:txBody>
          <a:bodyPr/>
          <a:lstStyle/>
          <a:p>
            <a:pPr marR="0" lvl="0" rtl="0"/>
            <a:r>
              <a:rPr lang="en-US" b="1" i="0" u="none" strike="noStrike" baseline="0" smtClean="0">
                <a:latin typeface="Times New Roman" panose="02020603050405020304" pitchFamily="18" charset="0"/>
              </a:rPr>
              <a:t>This desktop Expense Tracker is simple to set up and useful for individuals or small groups. It combines secure user accounts, expense tracking, and quick visual insights so people can clearly see where their money goes and how much is left.</a:t>
            </a:r>
          </a:p>
        </p:txBody>
      </p:sp>
    </p:spTree>
    <p:extLst>
      <p:ext uri="{BB962C8B-B14F-4D97-AF65-F5344CB8AC3E}">
        <p14:creationId xmlns:p14="http://schemas.microsoft.com/office/powerpoint/2010/main" val="781761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67</TotalTime>
  <Words>422</Words>
  <Application>Microsoft Office PowerPoint</Application>
  <PresentationFormat>Widescreen</PresentationFormat>
  <Paragraphs>64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Century Gothic</vt:lpstr>
      <vt:lpstr>Times New Roman</vt:lpstr>
      <vt:lpstr>Wingdings 3</vt:lpstr>
      <vt:lpstr>Ion</vt:lpstr>
      <vt:lpstr>1. Project Title</vt:lpstr>
      <vt:lpstr>2. Objective</vt:lpstr>
      <vt:lpstr>3. Overview — What the project does</vt:lpstr>
      <vt:lpstr>4. Key Features</vt:lpstr>
      <vt:lpstr>5. Modules / Parts Explanation  </vt:lpstr>
      <vt:lpstr>PowerPoint Presentation</vt:lpstr>
      <vt:lpstr>PowerPoint Presentation</vt:lpstr>
      <vt:lpstr>6. Outcome / Results</vt:lpstr>
      <vt:lpstr>7. Real-Life Use Case</vt:lpstr>
      <vt:lpstr>8.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Report — Expense Tracker (Secure Multi-User)</dc:title>
  <dc:creator>Windows User</dc:creator>
  <cp:lastModifiedBy>Windows User</cp:lastModifiedBy>
  <cp:revision>7</cp:revision>
  <dcterms:created xsi:type="dcterms:W3CDTF">2025-11-13T15:41:17Z</dcterms:created>
  <dcterms:modified xsi:type="dcterms:W3CDTF">2025-11-14T07:23:22Z</dcterms:modified>
</cp:coreProperties>
</file>